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GUJARAT POLICE CCTV HACKATHON 2026  ·  SUBMISSION DECK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02412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" y="82296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1051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5A623"/>
                </a:solidFill>
                <a:latin typeface="Arial"/>
              </a:rPr>
              <a:t>Plate to Court in 60 Seconds — the Evidence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“Where did this car go?”</a:t>
            </a:r>
            <a:r>
              <a:rPr sz="1400" b="0" i="0">
                <a:solidFill>
                  <a:srgbClr val="E6EDF7"/>
                </a:solidFill>
                <a:latin typeface="Arial"/>
              </a:rPr>
              <a:t>  Answered from a single plate number to a court-admissible, hash-sealed evidence dossier in under a minute — live on the 30-camera government sandbox grid, on the cameras Gujarat already owns.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186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FA1BC"/>
                </a:solidFill>
                <a:latin typeface="Arial"/>
              </a:rPr>
              <a:t>PROPOSED MODEL:  </a:t>
            </a:r>
            <a:r>
              <a:rPr sz="1250" b="0" i="0">
                <a:solidFill>
                  <a:srgbClr val="E6EDF7"/>
                </a:solidFill>
                <a:latin typeface="Arial"/>
              </a:rPr>
              <a:t>Hybrid — Model 1 (Registry &amp; GIS)  +  Model 2/4 (Unified Viewing + Central AI Analytics &amp; Watchlist Alerts)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576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34D399"/>
                </a:solidFill>
                <a:latin typeface="Arial"/>
              </a:rPr>
              <a:t>30/30 government cameras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65760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F5A623"/>
                </a:solidFill>
                <a:latin typeface="Arial"/>
              </a:rPr>
              <a:t>27 plate reads on real feeds 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365760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SHA-256 chain-of-custody dossier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65760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Zero new cameras needed</a:t>
            </a:r>
          </a:p>
        </p:txBody>
      </p:sp>
      <p:pic>
        <p:nvPicPr>
          <p:cNvPr id="12" name="Picture 11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315968"/>
            <a:ext cx="3520440" cy="192024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Live watchlist alerts — real platform, running now</a:t>
            </a:r>
          </a:p>
        </p:txBody>
      </p:sp>
      <p:pic>
        <p:nvPicPr>
          <p:cNvPr id="14" name="Picture 13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4315968"/>
            <a:ext cx="3520440" cy="192024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4462272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The test case: timestamped route on the GIS map</a:t>
            </a:r>
          </a:p>
        </p:txBody>
      </p:sp>
      <p:pic>
        <p:nvPicPr>
          <p:cNvPr id="16" name="Picture 15" descr="heal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315968"/>
            <a:ext cx="3520440" cy="192024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7" name="TextBox 16"/>
          <p:cNvSpPr txBox="1"/>
          <p:nvPr/>
        </p:nvSpPr>
        <p:spPr>
          <a:xfrm>
            <a:off x="8238744" y="6291072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Per-camera health — measured fps &amp; bandwidth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PROPOSED MODEL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One hybrid platform, because the test case spans three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9105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1 — REGISTRY &amp; GIS  (mandatory)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Every camera catalogued with GIS position, department, codec and stream URLs — synced from the gateway catalogue API. Nothing hard-coded: cameras and ids can change and the platform absorbs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57860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8833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2 — UNIFIED VIEWING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26 departments on one pane of glass: live map, HLS video wall, per-camera drawer, department filters — on existing cameras and DVR/NVRs.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75888"/>
            <a:ext cx="5989320" cy="969264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85616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MODEL 4 — CENTRAL AI + WATCHLIST ALERTS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Vehicle detection + ANPR on live feeds, watchlist correlation with real-time alerts, route reconstruction, and a court-ready evidence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5989320" cy="1225296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01184"/>
            <a:ext cx="557784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WHY HYBRID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The evaluation exercises all three at once: onboard ~50 heterogeneous cameras (M1), monitor them centrally (M2), then trace a designated plate and alert on a watchlist (M4). One registry-driven platform covers the full graded path with no duplicated infrastructure.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2646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KEY INNOVATIONS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0" y="17922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17739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PTS-anchored evidence clock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every timestamp derives from stream PTS, never wall-clock or declared fps — survives the gateway's own timing traps.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7066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6883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Confusion-tolerant plate matcher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0↔O, 1↔I, 5↔S, 8↔B misreads recovered at displayed confidence — never silently merged.</a:t>
            </a:r>
          </a:p>
        </p:txBody>
      </p:sp>
      <p:sp>
        <p:nvSpPr>
          <p:cNvPr id="19" name="Oval 18"/>
          <p:cNvSpPr/>
          <p:nvPr/>
        </p:nvSpPr>
        <p:spPr>
          <a:xfrm>
            <a:off x="6766560" y="362102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8896" y="36027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Physics plausibility filter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impossible hops rejected with plain-language reasons (“214 km/h over 3.1 km — discarded”).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0" y="4535423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45171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Hash-chained evidence dossier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SHA-256 chain-of-custody PDF: snapshots, GPS/timestamp table, operator identity, audit trail.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5449823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5431536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Edge-first 80,000-camera design —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video stays on departmental NVRs; ~1–3 Kbps per camera of metadata travels upstream.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SOLUTION OVERVIEW · END-TO-END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60-second story — five beats, one arc, the exact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922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COLD OPEN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All 30 government feeds live on one pane of glass. Health board green, per-feed bandwidth counters visible. No login screen, no loading.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50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THE ASK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Judge reads a plate. Typed once. The route animates camera-by-camera: timestamps, plate-crop evidence cards, per-hop confidence chips.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79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29783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3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PROOF OF LIFE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The same plate crosses a live camera — the watchlist alert fires with an audible ping; the operator's acknowledgment lands in the audit log on screen.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59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70063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3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CHAOS BEAT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We kill a feed on purpose. Amber → reconnecting → green — the same backoff code that survives the sandbox's looping feeds.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1600200"/>
            <a:ext cx="2121408" cy="32004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1746504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2221992"/>
            <a:ext cx="1828799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PLATE TO COURT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One click: chain-of-custody PDF — hashed frames, GPS/timestamp table, operator identity. Handed to the panel, printed.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713232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Rehearsal protocol: </a:t>
            </a:r>
            <a:r>
              <a:rPr sz="1150" b="0" i="0">
                <a:solidFill>
                  <a:srgbClr val="E6EDF7"/>
                </a:solidFill>
                <a:latin typeface="Arial"/>
              </a:rPr>
              <a:t>every beat rehearsed cold-start daily; three timed dress runs (real grid / injected failure / fully offline). Beat 2 is never canned — the judge-plate trace is always live.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1 — THE GOVERNMENT TEST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The plate trace, proven on the real grid — not hoped for</a:t>
            </a:r>
          </a:p>
        </p:txBody>
      </p:sp>
      <p:pic>
        <p:nvPicPr>
          <p:cNvPr id="6" name="Picture 5" descr="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6903720" cy="3776472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5321808"/>
            <a:ext cx="6903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FA1BC"/>
                </a:solidFill>
                <a:latin typeface="Arial"/>
              </a:rPr>
              <a:t>Route reconstruction, live on this platform: numbered timestamped sightings, GIS polyline, distance and confidence — one click from here to the sealed dossier.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81328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600200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6EDF7"/>
                </a:solidFill>
                <a:latin typeface="Arial"/>
              </a:rPr>
              <a:t>ONBOARDED LIVE — SEPT 2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The full government sandbox grid via catalogue sync: 30 heterogeneous cameras — 24 H.264 + 6 HEVC, five resolutions, declared 10–30 fps. RTSP forced over TCP, max 4 concurrent captures (pacing rule).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971800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3090672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MEASURED, NOT TRUSTED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cam01 declares 30 fps but delivers ~12.5 fps (median PTS gap exactly 80 ms) — the integration guide's own warning, demonstrated live. All timing is PTS-anchored; never arrival time, never declared fps.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462272"/>
            <a:ext cx="4096512" cy="13716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4581144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Arial"/>
              </a:rPr>
              <a:t>REAL DETECTIONS TODAY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00" b="0" i="0">
                <a:solidFill>
                  <a:srgbClr val="E6EDF7"/>
                </a:solidFill>
                <a:latin typeface="Arial"/>
              </a:rPr>
              <a:t>293 detections incl. 27 plate reads across 11 real cameras — each with a PTS-anchored UTC timestamp, snapshot and bbox, stored where GET /api/detections serves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5897880"/>
            <a:ext cx="4096512" cy="56692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5980176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Score-sheet line: </a:t>
            </a:r>
            <a:r>
              <a:rPr sz="1000" b="0" i="0">
                <a:solidFill>
                  <a:srgbClr val="E6EDF7"/>
                </a:solidFill>
                <a:latin typeface="Arial"/>
              </a:rPr>
              <a:t>“identify, trace and present the complete timestamped route” → demo beat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5 — AI ANALYTICS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We show you what the system refused to believe — and why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RTSP over TCP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PTS-anchored frames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9464" y="1911095"/>
            <a:ext cx="201168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YOLOv8n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vehicle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55464" y="1911095"/>
            <a:ext cx="201167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Plate localization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YOLO-v9-t 384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41464" y="1911095"/>
            <a:ext cx="201167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fast-plate-ocr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plate reading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27464" y="1911095"/>
            <a:ext cx="201168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46920" y="1517904"/>
            <a:ext cx="2048256" cy="786384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517904"/>
            <a:ext cx="186537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Normalize + match</a:t>
            </a:r>
          </a:p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exact / fuzzy, ranked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9572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1BC"/>
                </a:solidFill>
                <a:latin typeface="Arial"/>
              </a:rPr>
              <a:t>CPU-only inference, per-camera buffers (no fixed-shape batch across heterogeneous cameras), detector reset on loop discontinuities.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346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999232"/>
            <a:ext cx="4983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Arial"/>
              </a:rPr>
              <a:t>THE 0.93 RECOVERY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 i="0">
                <a:solidFill>
                  <a:srgbClr val="E6EDF7"/>
                </a:solidFill>
                <a:latin typeface="Arial"/>
              </a:rPr>
              <a:t>OCR reads </a:t>
            </a:r>
            <a:r>
              <a:rPr sz="1150" b="1" i="0">
                <a:solidFill>
                  <a:srgbClr val="FFFFFF"/>
                </a:solidFill>
                <a:latin typeface="Courier New"/>
              </a:rPr>
              <a:t>GJ01A81234</a:t>
            </a:r>
            <a:r>
              <a:rPr sz="1150" b="0" i="0">
                <a:solidFill>
                  <a:srgbClr val="E6EDF7"/>
                </a:solidFill>
                <a:latin typeface="Arial"/>
              </a:rPr>
              <a:t> → matched </a:t>
            </a:r>
            <a:r>
              <a:rPr sz="1150" b="1" i="0">
                <a:solidFill>
                  <a:srgbClr val="34D399"/>
                </a:solidFill>
                <a:latin typeface="Courier New"/>
              </a:rPr>
              <a:t>GJ01AB1234</a:t>
            </a:r>
            <a:r>
              <a:rPr sz="1150" b="0" i="0">
                <a:solidFill>
                  <a:srgbClr val="E6EDF7"/>
                </a:solidFill>
                <a:latin typeface="Arial"/>
              </a:rPr>
              <a:t> at 0.93, flagged fuzzy.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8 misread as B — an exact-match system shows a hole in the route; SENTINEL shows a recovered sighting at displayed confidence. Ranked, flagged, never silently merged; an all-fuzzy route says so in a banner.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8346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999232"/>
            <a:ext cx="4983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Arial"/>
              </a:rPr>
              <a:t>THE REJECTED HOP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 i="1">
                <a:solidFill>
                  <a:srgbClr val="FFFFFF"/>
                </a:solidFill>
                <a:latin typeface="Arial"/>
              </a:rPr>
              <a:t>“Implied speed 214 km/h over 3.1 km — physically impossible, discarded as false ANPR match.”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00" b="0" i="0">
                <a:solidFill>
                  <a:srgbClr val="E6EDF7"/>
                </a:solidFill>
                <a:latin typeface="Arial"/>
              </a:rPr>
              <a:t>A physics filter over GIS distance / PTS-anchored Δt greys the hop on the map with a plain-language reason; a retro-rejection guard stops a false first sighting from poisoning the route.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394960"/>
            <a:ext cx="11183112" cy="65836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04688"/>
            <a:ext cx="106984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5A623"/>
                </a:solidFill>
                <a:latin typeface="Arial"/>
              </a:rPr>
              <a:t>Uncounterfeitable: </a:t>
            </a:r>
            <a:r>
              <a:rPr sz="1150" b="0" i="0">
                <a:solidFill>
                  <a:srgbClr val="E6EDF7"/>
                </a:solidFill>
                <a:latin typeface="Arial"/>
              </a:rPr>
              <a:t>this proves the system models vehicles moving through the world — not strings matching in a database. Face recognition: roadmap only, deliberately not demoed.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WATCHLIST CORRELATION &amp; REAL-TIME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Every detection, against every active entry —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64207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63677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NORMALIZE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One shared rule for every plate everywhere: uppercase, A–Z and 0–9 only. The watchlist and the detector can never disagree on format.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0662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85292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2549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CORRELATE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Each detection is matched against all active watchlist entries: exact on the normalized plate, plus fuzzy — Levenshtein distance 1 or a single OCR-confusion substitution (0↔O, 1↔I, 5↔S, 8↔B, 2↔Z) — always labelled as fuzzy.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9534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404164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014215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ALERT IN UNDER A SECOND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Matches push over WebSocket to every operator screen: audible ping, snapshot evidence card, category and priority badges, map pan to the camera.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84064"/>
            <a:ext cx="78638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5230368"/>
            <a:ext cx="310896" cy="310896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5202936"/>
            <a:ext cx="70408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ACKNOWLEDGE &amp; AUDIT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The operator's acknowledgment lands in the append-only audit log — the same log the evidence dossier cites. Nothing disappears silently.</a:t>
            </a:r>
          </a:p>
        </p:txBody>
      </p:sp>
      <p:pic>
        <p:nvPicPr>
          <p:cNvPr id="18" name="Picture 17" descr="alert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517904"/>
            <a:ext cx="3063240" cy="4572000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9" name="TextBox 18"/>
          <p:cNvSpPr txBox="1"/>
          <p:nvPr/>
        </p:nvSpPr>
        <p:spPr>
          <a:xfrm>
            <a:off x="8595360" y="6144768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1BC"/>
                </a:solidFill>
                <a:latin typeface="Arial"/>
              </a:rPr>
              <a:t>Live alert cards on the running platform.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3 — HIGH-LEVEL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Tiered edge architecture: video stays where it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80,000 CAMERAS + DVR/NVRs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26 departments' existing CCTV estate — untouched. Video is decoded and analysed near the camera and never leaves departmental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EDGE / REGIONAL PoPs (~30)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Decode + ANPR run locally per district PoP; per-camera health metrics measured at the edge; store-and-forward for low-connectivity sites.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554480"/>
            <a:ext cx="3063240" cy="228600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42248" y="1719072"/>
            <a:ext cx="26700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STATE CENTRE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Registry + GIS · watchlist correlation · route engine · evidence dossier · append-only audit. Metadata-scale only — no video backhaul.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11880" y="2697480"/>
            <a:ext cx="914400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80960" y="2697480"/>
            <a:ext cx="914400" cy="0"/>
          </a:xfrm>
          <a:prstGeom prst="bentConnector3">
            <a:avLst/>
          </a:prstGeom>
          <a:ln w="25400">
            <a:solidFill>
              <a:srgbClr val="F5A6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83280" y="228600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F5A623"/>
                </a:solidFill>
                <a:latin typeface="Arial"/>
              </a:rPr>
              <a:t>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28600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F5A623"/>
                </a:solidFill>
                <a:latin typeface="Arial"/>
              </a:rPr>
              <a:t>~1–3 Kbps/cam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23360"/>
            <a:ext cx="11183112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Interoperability: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the catalogue registry API is the contract — cameras and ids can change and the platform absorbs it; per-camera codec/resolution read from the catalogue, no uniform-grid assumption. VAHAN / SARTHI / eGujCop integration readiness documented (HLD §10). Evolution path on the same contracts: SQLite → PostgreSQL+PostGIS, REST → Kafka, threads → K8s per PoP.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4748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8FA1BC"/>
                </a:solidFill>
                <a:latin typeface="Arial"/>
              </a:rPr>
              <a:t>TECHNOLOGIES 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76672"/>
            <a:ext cx="111739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Python 3.12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66620" y="5376672"/>
            <a:ext cx="817473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FastAPI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30398" y="5376672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SQLAlchemy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9118" y="5376672"/>
            <a:ext cx="2242108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OpenCV + FFmpeg (RTSP/TCP)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7531" y="5376672"/>
            <a:ext cx="1717243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Ultralytics YOLOv8n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1078" y="5376672"/>
            <a:ext cx="1342339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fast-plate-ocr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59721" y="5376672"/>
            <a:ext cx="1567281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open-image-models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7900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React 18 + Vite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66543" y="5779008"/>
            <a:ext cx="1117396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Leaflet GIS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0244" y="5779008"/>
            <a:ext cx="742492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hls.js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19041" y="5779008"/>
            <a:ext cx="967435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WebSocket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2780" y="5779008"/>
            <a:ext cx="892454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JWT RBAC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1539" y="5779008"/>
            <a:ext cx="14923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00" b="0">
                <a:solidFill>
                  <a:srgbClr val="E6EDF7"/>
                </a:solidFill>
                <a:latin typeface="Arial"/>
              </a:rPr>
              <a:t>SQLite → PostGIS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6 — SCALABILITY TO 80,000 CAMERAS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Computed, not asserted — and measured live on the health 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4983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  <a:latin typeface="Arial"/>
              </a:rPr>
              <a:t>CENTRALIZED (THE WRONG WAY)</a:t>
            </a:r>
          </a:p>
          <a:p>
            <a:pPr algn="l">
              <a:spcBef>
                <a:spcPts val="1000"/>
              </a:spcBef>
            </a:pPr>
            <a:r>
              <a:rPr sz="5400" b="1" i="0">
                <a:solidFill>
                  <a:srgbClr val="F87171"/>
                </a:solidFill>
                <a:latin typeface="Arial"/>
              </a:rPr>
              <a:t>160 Gbps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00" b="0" i="0">
                <a:solidFill>
                  <a:srgbClr val="E6EDF7"/>
                </a:solidFill>
                <a:latin typeface="Arial"/>
              </a:rPr>
              <a:t>80,000 cameras × 2 Mbps of video hauled into one site. Unbuildable on GSWAN — and pointless to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5448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755648"/>
            <a:ext cx="49834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Arial"/>
              </a:rPr>
              <a:t>EDGE-FIRST (SENTINEL)</a:t>
            </a:r>
          </a:p>
          <a:p>
            <a:pPr algn="l">
              <a:spcBef>
                <a:spcPts val="1000"/>
              </a:spcBef>
            </a:pPr>
            <a:r>
              <a:rPr sz="5400" b="1" i="0">
                <a:solidFill>
                  <a:srgbClr val="34D399"/>
                </a:solidFill>
                <a:latin typeface="Arial"/>
              </a:rPr>
              <a:t>80–240 Mbps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00" b="0" i="0">
                <a:solidFill>
                  <a:srgbClr val="E6EDF7"/>
                </a:solidFill>
                <a:latin typeface="Arial"/>
              </a:rPr>
              <a:t>Detection metadata only: ~1–3 Kbps per camera upstream — a 650× to 2,000× reduction. Video stays on departmental NVRs, exactly as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2803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74336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A623"/>
                </a:solidFill>
                <a:latin typeface="Arial"/>
              </a:rPr>
              <a:t>Measured live, on screen: </a:t>
            </a:r>
            <a:r>
              <a:rPr sz="1200" b="0" i="0">
                <a:solidFill>
                  <a:srgbClr val="E6EDF7"/>
                </a:solidFill>
                <a:latin typeface="Arial"/>
              </a:rPr>
              <a:t>the camera-health board shows both numbers for the real grid — ~2.6 Mbps per camera of video staying at the edge next to the metadata actually travelling upstream.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Honest scope: architecture plus measured ratios on one machine — not a deployed fleet. GPU sizing, analytics tiering and retention are stated as explicit assumptions in the HLD (§6).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CRITERION 4 — PLATFORM MATURITY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Built for the 2 a.m. shift — resilience shown, not claimed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3677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HEALTH BOARD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Per-feed measured fps, last-frame age, reconnect count and live bandwidth — problem feeds sort first; auto-alert on feed drop.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0662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82549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KILL-A-FEED, LIVE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We cut a feed on stage: green → amber → reconnecting → green. Exponential backoff 2 s → 30 s plus loop-discontinuity reset — rehearsed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014215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RBAC + AUDIT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Token-authenticated viewer / operator / admin roles gate watchlist changes, acks and dossier export; append-only audit log; the identity on the dossier comes from the token, never a spoofable header.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84064"/>
            <a:ext cx="8321040" cy="1078992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202936"/>
            <a:ext cx="78638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TRIPLE-LAYER FALLBACK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E6EDF7"/>
                </a:solidFill>
                <a:latin typeface="Arial"/>
              </a:rPr>
              <a:t>DEMO_MODE flag, a fully local 50-camera gateway needing zero venue network, and one dress rehearsal run entirely offline.</a:t>
            </a:r>
          </a:p>
        </p:txBody>
      </p:sp>
      <p:pic>
        <p:nvPicPr>
          <p:cNvPr id="14" name="Picture 13" descr="healt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517904"/>
            <a:ext cx="2212848" cy="4809744"/>
          </a:xfrm>
          <a:prstGeom prst="rect">
            <a:avLst/>
          </a:prstGeom>
          <a:ln w="12700">
            <a:solidFill>
              <a:srgbClr val="2A3855"/>
            </a:solidFill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9052560" y="634593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Measured live: 30/30 streams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COST &amp; OPERATIONAL BENEFITS FOR POLICING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You do not need a single new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120640" cy="28803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5A623"/>
                </a:solidFill>
                <a:latin typeface="Arial"/>
              </a:rPr>
              <a:t>₹3–7k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FFFFFF"/>
                </a:solidFill>
                <a:latin typeface="Arial"/>
              </a:rPr>
              <a:t>per EXISTING camera to bring it onto SENTINEL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E6EDF7"/>
                </a:solidFill>
                <a:latin typeface="Arial"/>
              </a:rPr>
              <a:t>vs </a:t>
            </a:r>
            <a:r>
              <a:rPr sz="1300" b="1" i="0">
                <a:solidFill>
                  <a:srgbClr val="F87171"/>
                </a:solidFill>
                <a:latin typeface="Arial"/>
              </a:rPr>
              <a:t>₹25k+</a:t>
            </a:r>
            <a:r>
              <a:rPr sz="1300" b="0" i="0">
                <a:solidFill>
                  <a:srgbClr val="E6EDF7"/>
                </a:solidFill>
                <a:latin typeface="Arial"/>
              </a:rPr>
              <a:t> per new camera installed.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150" b="0" i="0">
                <a:solidFill>
                  <a:srgbClr val="8FA1BC"/>
                </a:solidFill>
                <a:latin typeface="Arial"/>
              </a:rPr>
              <a:t>Video never leaves departmental storage — no new backhaul, no forklift replacement.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554480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655064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8–16 hours → sub-second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 vehicle trace that today costs an operator a shift of manual DVR review becomes one query.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33872" y="2596896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2697479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The watchlist never sleeps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every live feed cross-referenced 24×7; alerts reach the control room in under a second, with evidence attached.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3639311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1616" y="3739896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Evidence that survives court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the dossier reaches the charge sheet hash-sealed, with operator identity and audit trail — CCTV evidence stops dying between control room and court.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4681727"/>
            <a:ext cx="5852160" cy="93268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4782312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Phased, low-risk rollout —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P1 pilot: one commissionerate, ~2,000 cameras, ~₹1.5 cr — validates every ratio before scaling. Statewide sketch ₹15–20 cr excl. cameras (HLD §11, ±30%).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5120640" cy="1005840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4617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Same infrastructure amortizes every future analytic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at software-only cost — the brief's “existing infrastructure to the maximum practical extent”, done literally.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Arial"/>
              </a:rPr>
              <a:t>THE SCORE SHEET, MIRRORED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76656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rial"/>
              </a:rPr>
              <a:t>Seven criteria + every bonus line — each tick names its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A1BC"/>
                </a:solidFill>
                <a:latin typeface="Arial"/>
              </a:rPr>
              <a:t>THE SEVEN EVALUATION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92224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37943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1 · Government test case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designated plate → timestamped route, live on the real grid (slide 4, demo beat 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41448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96312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8716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2 · Presentation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this deck: one slide per criterion, transcribable straight into the rubric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90672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45536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136391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3 · High-level design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tiered edge architecture; 12-section HLD submitted as PDF (slide 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9475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785615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4 · Platform maturity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health board + on-stage kill-a-feed recovery + RBAC/audit (slide 9)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43983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43484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5 · Analytics quality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physics-filter rejection + 0.93 fuzzy recovery, confidence shown (slide 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38344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093207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8406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6 · Scalability to 80k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160 Gbps vs 80–240 Mbps — computed and measured (slide 8)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87568"/>
            <a:ext cx="55778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742431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73328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7 · Completeness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deck, HLD, two videos, timestamped report, repo — all banked early (slide 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46304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A1BC"/>
                </a:solidFill>
                <a:latin typeface="Arial"/>
              </a:rPr>
              <a:t>BONUS CRITERIA — NO UNPROVEN TICKS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1792224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1847088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837943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Multi-camera correlation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physics-filtered route across 8 cameras + retro-rejection guard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244144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96312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2487168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Cybersecurity / audit / RBAC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SHA-256 dossier chain, JWT roles, append-only audit the export cites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3090672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145536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3136391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Edge / bandwidth efficiency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~1–3 Kbps/cam upstream; ratio measured live on the health board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3739896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9475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76288" y="3785615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Camera-health monitoring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per-feed fps / frame-age / reconnects / bandwidth + drop alerts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55080" y="4389120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4443983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4434840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Existing-infrastructure reuse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zero new cameras; DVR/NVRs untouched; ₹3–7k per existing camera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55080" y="5038344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10528" y="5093207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Arial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5084064"/>
            <a:ext cx="4709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Real-time alerting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FA1BC"/>
                </a:solidFill>
                <a:latin typeface="Arial"/>
              </a:rPr>
              <a:t>watchlist alert &lt; 1 s over WebSocket, snapshot attached, ack audited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55080" y="568756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0528" y="575157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Arial"/>
              </a:rPr>
              <a:t>Not claimed: </a:t>
            </a:r>
            <a:r>
              <a:rPr sz="950" b="0" i="0">
                <a:solidFill>
                  <a:srgbClr val="E6EDF7"/>
                </a:solidFill>
                <a:latin typeface="Arial"/>
              </a:rPr>
              <a:t>face recognition is roadmap, not demo; every legal statement scoped as design provision.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— Gujarat Police CCTV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669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“Plate to court in sixty seconds —</a:t>
            </a:r>
          </a:p>
          <a:p>
            <a:pPr algn="ctr">
              <a:spcBef>
                <a:spcPts val="600"/>
              </a:spcBef>
            </a:pPr>
            <a:r>
              <a:rPr sz="3600" b="1" i="0">
                <a:solidFill>
                  <a:srgbClr val="F5A623"/>
                </a:solidFill>
                <a:latin typeface="Arial"/>
              </a:rPr>
              <a:t>on the cameras Gujarat already owns.”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0332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A1BC"/>
                </a:solidFill>
                <a:latin typeface="Arial"/>
              </a:rPr>
              <a:t>EVERYTHING THE CHECKLIST ASKS FOR — BANKED EARLY, SUBMITTED BEFORE NOON ON 7 SEPTEMBER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4583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311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DECK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this file + PDF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19959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9687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HLD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12-section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5335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5063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VIDEO ×2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own-feed + government-feed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0711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0439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timestamped = dossier export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6087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5815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REPO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clean-clone quickstart, make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81463" y="4160520"/>
            <a:ext cx="1755648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1191" y="4160520"/>
            <a:ext cx="15361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5A623"/>
                </a:solidFill>
                <a:latin typeface="Arial"/>
              </a:rPr>
              <a:t>LIVE DEMO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900" b="0" i="0">
                <a:solidFill>
                  <a:srgbClr val="E6EDF7"/>
                </a:solidFill>
                <a:latin typeface="Arial"/>
              </a:rPr>
              <a:t>cold-start rehearsed, offline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FA1BC"/>
                </a:solidFill>
                <a:latin typeface="Arial"/>
              </a:rPr>
              <a:t>SENTINEL  ·  Hybrid Model 1 + 2/4  ·  Gujarat Police CCTV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